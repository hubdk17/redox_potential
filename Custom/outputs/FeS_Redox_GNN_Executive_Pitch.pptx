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alibri"/>
              </a:defRPr>
            </a:pPr>
            <a:r>
              <a:t>EXECUTIVE PITCH | PROBLEM DEFINITION &amp; BIOPHYSICAL FRONTIER</a:t>
            </a:r>
          </a:p>
          <a:p>
            <a:pPr>
              <a:spcBef>
                <a:spcPts val="200"/>
              </a:spcBef>
              <a:defRPr sz="2200" b="1">
                <a:solidFill>
                  <a:srgbClr val="F8FAFC"/>
                </a:solidFill>
                <a:latin typeface="Calibri"/>
              </a:defRPr>
            </a:pPr>
            <a:r>
              <a:t>Engineering Nature's Electrical Wiring: Predicting Metalloprotein Redox Potentials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Why Iron-Sulfur ([Fe-S]) cluster redox potential (Em) prediction is a multi-million dollar biophysical bottleneck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120640" cy="489204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Calibri"/>
              </a:defRPr>
            </a:pPr>
            <a:r>
              <a:t>1. WHAT WE DO &amp; WHY IT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75488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800"/>
              </a:spcBef>
            </a:pPr>
            <a:r>
              <a:rPr sz="1050" b="1">
                <a:solidFill>
                  <a:srgbClr val="F8FAFC"/>
                </a:solidFill>
                <a:latin typeface="Calibri"/>
              </a:rPr>
              <a:t>• Nature's Universal Bio-Batteries:</a:t>
            </a:r>
            <a:r>
              <a:rPr sz="1000">
                <a:solidFill>
                  <a:srgbClr val="CBD5E1"/>
                </a:solidFill>
                <a:latin typeface="Calibri"/>
              </a:rPr>
              <a:t> Iron-Sulfur ([Fe-S]) proteins are the electrical grid of all living organisms. They drive essential electron-transport cascades in cellular respiration (Complex I), photosynthesis (Photosystem I), nitrogen fixation (nitrogenase), and DNA repair.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F8FAFC"/>
                </a:solidFill>
                <a:latin typeface="Calibri"/>
              </a:rPr>
              <a:t>• Hyper-Sensitivity (The 60 mV Rule):</a:t>
            </a:r>
            <a:r>
              <a:rPr sz="1000">
                <a:solidFill>
                  <a:srgbClr val="CBD5E1"/>
                </a:solidFill>
                <a:latin typeface="Calibri"/>
              </a:rPr>
              <a:t> In electron transfer, thermodynamics dictates that a mere ±60 mV shift in redox potential (Em) alters electron transfer kinetics by a full order of magnitude (10x), easily halting vital metabolic fluxes.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F8FAFC"/>
                </a:solidFill>
                <a:latin typeface="Calibri"/>
              </a:rPr>
              <a:t>• The High-Value Mission:</a:t>
            </a:r>
            <a:r>
              <a:rPr sz="1000">
                <a:solidFill>
                  <a:srgbClr val="CBD5E1"/>
                </a:solidFill>
                <a:latin typeface="Calibri"/>
              </a:rPr>
              <a:t> Accurately predicting Em directly from 3D molecular structures without cost-prohibitive quantum chemistry unlocks rational de novo metalloenzyme design, green hydrogen biocatalysis, and synthetic bio-circuitry.</a:t>
            </a:r>
          </a:p>
          <a:p>
            <a:pPr>
              <a:spcBef>
                <a:spcPts val="800"/>
              </a:spcBef>
            </a:pPr>
            <a:r>
              <a:rPr sz="1050" b="1">
                <a:solidFill>
                  <a:srgbClr val="F8FAFC"/>
                </a:solidFill>
                <a:latin typeface="Calibri"/>
              </a:rPr>
              <a:t>• The Current Bottleneck:</a:t>
            </a:r>
            <a:r>
              <a:rPr sz="1000">
                <a:solidFill>
                  <a:srgbClr val="CBD5E1"/>
                </a:solidFill>
                <a:latin typeface="Calibri"/>
              </a:rPr>
              <a:t> Wet-lab electrochemistry requires costly protein purification ($1,000s/mutant), while DFT quantum calculations require days of supercomputing per cluster and fail on dynamic protein dielectric environments.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508760"/>
            <a:ext cx="5394960" cy="233172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Calibri"/>
              </a:defRPr>
            </a:pPr>
            <a:r>
              <a:t>2. WHY IT IS AN EXTREMELY HARD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011680"/>
            <a:ext cx="502920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600"/>
              </a:spcBef>
            </a:pPr>
            <a:r>
              <a:rPr sz="1000" b="1">
                <a:solidFill>
                  <a:srgbClr val="F8FAFC"/>
                </a:solidFill>
                <a:latin typeface="Calibri"/>
              </a:rPr>
              <a:t>• The 1,000 mV Paradox: </a:t>
            </a:r>
            <a:r>
              <a:rPr sz="950">
                <a:solidFill>
                  <a:srgbClr val="CBD5E1"/>
                </a:solidFill>
                <a:latin typeface="Calibri"/>
              </a:rPr>
              <a:t>Chemically identical [4Fe-4S] cubane clusters span a massive 1,200 mV physiological range—from -700 mV in Ferredoxins to +500 mV in HiPIPs. The chemical core is identical; the protein microenvironment alone controls the voltage.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F8FAFC"/>
                </a:solidFill>
                <a:latin typeface="Calibri"/>
              </a:rPr>
              <a:t>• Sub-Angstrom Quantum Sensitivity: </a:t>
            </a:r>
            <a:r>
              <a:rPr sz="950">
                <a:solidFill>
                  <a:srgbClr val="CBD5E1"/>
                </a:solidFill>
                <a:latin typeface="Calibri"/>
              </a:rPr>
              <a:t>A single hydrogen bond (N-H···S) from the peptide backbone shifts Em by +60 to +100 mV. Subtle changes in solvent accessibility (SASA), dielectric screening, and pH titration completely alter cluster potential.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3977639"/>
            <a:ext cx="5394960" cy="242316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4114799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Calibri"/>
              </a:defRPr>
            </a:pPr>
            <a:r>
              <a:t>3. QUANTUM ACTIVE SITE: [4Fe-4S] CLUSTER MICROENVIRONMENT</a:t>
            </a:r>
          </a:p>
        </p:txBody>
      </p:sp>
      <p:pic>
        <p:nvPicPr>
          <p:cNvPr id="12" name="Picture 11" descr="4fxc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4389120"/>
            <a:ext cx="2651760" cy="187451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06840" y="4434840"/>
            <a:ext cx="23317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</a:pPr>
            <a:r>
              <a:rPr sz="900" b="1">
                <a:solidFill>
                  <a:srgbClr val="38BDF8"/>
                </a:solidFill>
                <a:latin typeface="Calibri"/>
              </a:rPr>
              <a:t>▸ Inorganic Cubane Core:</a:t>
            </a:r>
            <a:r>
              <a:rPr sz="850">
                <a:solidFill>
                  <a:srgbClr val="CBD5E1"/>
                </a:solidFill>
                <a:latin typeface="Calibri"/>
              </a:rPr>
              <a:t> Fe4S4 cluster undergoing reversible [Fe4S4]2+/1+ redox transitions.</a:t>
            </a:r>
          </a:p>
          <a:p>
            <a:pPr>
              <a:spcBef>
                <a:spcPts val="400"/>
              </a:spcBef>
            </a:pPr>
            <a:r>
              <a:rPr sz="900" b="1">
                <a:solidFill>
                  <a:srgbClr val="38BDF8"/>
                </a:solidFill>
                <a:latin typeface="Calibri"/>
              </a:rPr>
              <a:t>▸ Cysteine Coordination:</a:t>
            </a:r>
            <a:r>
              <a:rPr sz="850">
                <a:solidFill>
                  <a:srgbClr val="CBD5E1"/>
                </a:solidFill>
                <a:latin typeface="Calibri"/>
              </a:rPr>
              <a:t> 4 invariant Cys-Sγ coordinate bonds providing primary electron pathways.</a:t>
            </a:r>
          </a:p>
          <a:p>
            <a:pPr>
              <a:spcBef>
                <a:spcPts val="400"/>
              </a:spcBef>
            </a:pPr>
            <a:r>
              <a:rPr sz="900" b="1">
                <a:solidFill>
                  <a:srgbClr val="38BDF8"/>
                </a:solidFill>
                <a:latin typeface="Calibri"/>
              </a:rPr>
              <a:t>▸ Outer Dielectric Shell:</a:t>
            </a:r>
            <a:r>
              <a:rPr sz="850">
                <a:solidFill>
                  <a:srgbClr val="CBD5E1"/>
                </a:solidFill>
                <a:latin typeface="Calibri"/>
              </a:rPr>
              <a:t> Polarity and pH modulate electrostatic charge stabilization.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alibri"/>
              </a:defRPr>
            </a:pPr>
            <a:r>
              <a:t>METHODOLOGY &amp; ARCHITECTURAL INNOVATION | FILM-RGCN</a:t>
            </a:r>
          </a:p>
          <a:p>
            <a:pPr>
              <a:spcBef>
                <a:spcPts val="200"/>
              </a:spcBef>
              <a:defRPr sz="2200" b="1">
                <a:solidFill>
                  <a:srgbClr val="F8FAFC"/>
                </a:solidFill>
                <a:latin typeface="Calibri"/>
              </a:defRPr>
            </a:pPr>
            <a:r>
              <a:t>Overcoming Broken Baselines with Physics-Conditioned Graph Message Passing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How we diagnosed prior literature failures and designed a continuous multi-relational graph neural network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120640" cy="251460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EF4444"/>
                </a:solidFill>
                <a:latin typeface="Calibri"/>
              </a:defRPr>
            </a:pPr>
            <a:r>
              <a:t>PRIOR LITERATURE &amp; HIDDEN PITFALLS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75488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500"/>
              </a:spcBef>
            </a:pPr>
            <a:r>
              <a:rPr sz="950" b="1">
                <a:solidFill>
                  <a:srgbClr val="F8FAFC"/>
                </a:solidFill>
                <a:latin typeface="Calibri"/>
              </a:rPr>
              <a:t>✖ The Published Baseline (JCIM 2025):</a:t>
            </a:r>
            <a:r>
              <a:rPr sz="900">
                <a:solidFill>
                  <a:srgbClr val="94A3B8"/>
                </a:solidFill>
                <a:latin typeface="Calibri"/>
              </a:rPr>
              <a:t> Persico et al. proposed tabular feature extraction with XGBoost, claiming ~40 mV on a subset, but their GitHub code yielded massive errors (~143-165 mV, R² ≈ 0.18).</a:t>
            </a:r>
          </a:p>
          <a:p>
            <a:pPr>
              <a:spcBef>
                <a:spcPts val="500"/>
              </a:spcBef>
            </a:pPr>
            <a:r>
              <a:rPr sz="950" b="1">
                <a:solidFill>
                  <a:srgbClr val="F8FAFC"/>
                </a:solidFill>
                <a:latin typeface="Calibri"/>
              </a:rPr>
              <a:t>✖ Our Reproduction &amp; Bug Discovery:</a:t>
            </a:r>
            <a:r>
              <a:rPr sz="900">
                <a:solidFill>
                  <a:srgbClr val="94A3B8"/>
                </a:solidFill>
                <a:latin typeface="Calibri"/>
              </a:rPr>
              <a:t> Running the exact repository revealed severe dictionary key collisions in feature extraction, generating hundreds of corrupted NaN/zero columns and breaking model training.</a:t>
            </a:r>
          </a:p>
          <a:p>
            <a:pPr>
              <a:spcBef>
                <a:spcPts val="500"/>
              </a:spcBef>
            </a:pPr>
            <a:r>
              <a:rPr sz="950" b="1">
                <a:solidFill>
                  <a:srgbClr val="F8FAFC"/>
                </a:solidFill>
                <a:latin typeface="Calibri"/>
              </a:rPr>
              <a:t>✖ Why Standard GNNs Fail:</a:t>
            </a:r>
            <a:r>
              <a:rPr sz="900">
                <a:solidFill>
                  <a:srgbClr val="94A3B8"/>
                </a:solidFill>
                <a:latin typeface="Calibri"/>
              </a:rPr>
              <a:t> Standard GCNs and GATs suffer from Signal Dilution (averaging across 300+ bulk residues drowns the active site) and Boundary Cliffs (rigid distance cutoffs create artificial discontinuities).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508760"/>
            <a:ext cx="5394960" cy="251460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Calibri"/>
              </a:defRPr>
            </a:pPr>
            <a:r>
              <a:t>OUR SOLUTION: PHYSICS-CONDITIONED FiLM-RGCN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965960"/>
            <a:ext cx="502920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</a:pPr>
            <a:r>
              <a:rPr sz="950" b="1">
                <a:solidFill>
                  <a:srgbClr val="F8FAFC"/>
                </a:solidFill>
                <a:latin typeface="Calibri"/>
              </a:rPr>
              <a:t>✔ 1. Curated 96 Biophysical Descriptors:</a:t>
            </a:r>
            <a:r>
              <a:rPr sz="900">
                <a:solidFill>
                  <a:srgbClr val="CBD5E1"/>
                </a:solidFill>
                <a:latin typeface="Calibri"/>
              </a:rPr>
              <a:t> Completely resolved key collisions; non-redundant descriptors drop baseline error directly to 48.26 mV.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F8FAFC"/>
                </a:solidFill>
                <a:latin typeface="Calibri"/>
              </a:rPr>
              <a:t>✔ 2. 5-Relational Molecular Topology:</a:t>
            </a:r>
            <a:r>
              <a:rPr sz="900">
                <a:solidFill>
                  <a:srgbClr val="CBD5E1"/>
                </a:solidFill>
                <a:latin typeface="Calibri"/>
              </a:rPr>
              <a:t> Replaces generic spatial edges with chemically explicit message passing: (1) Covalent Backbone, (2) Fe-S Coordinate, (3) Polar H-Bonds (N-H···S), (4) Hydrophobic, (5) Cluster-Cluster.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F8FAFC"/>
                </a:solidFill>
                <a:latin typeface="Calibri"/>
              </a:rPr>
              <a:t>✔ 3. Layer-Wise pH-FiLM Affine Modulation:</a:t>
            </a:r>
            <a:r>
              <a:rPr sz="900">
                <a:solidFill>
                  <a:srgbClr val="CBD5E1"/>
                </a:solidFill>
                <a:latin typeface="Calibri"/>
              </a:rPr>
              <a:t> Injects solvent pH into every GNN layer as an affine transformation (h' = γ(pH) ⊙ h + β(pH)), modeling protonation dynamics.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F8FAFC"/>
                </a:solidFill>
                <a:latin typeface="Calibri"/>
              </a:rPr>
              <a:t>✔ 4. Dual-Scale Exponential Distance Readout:</a:t>
            </a:r>
            <a:r>
              <a:rPr sz="900">
                <a:solidFill>
                  <a:srgbClr val="CBD5E1"/>
                </a:solidFill>
                <a:latin typeface="Calibri"/>
              </a:rPr>
              <a:t> Continuous physics-based pooling w(d) = exp(-d/d0) ensures inner-shell quantum atoms dominate over bulk solvent.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60520"/>
            <a:ext cx="10728655" cy="224028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9768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Calibri"/>
              </a:defRPr>
            </a:pPr>
            <a:r>
              <a:t>END-TO-END FiLM-RGCN DEEP LEARNING PIPELINE</a:t>
            </a:r>
          </a:p>
        </p:txBody>
      </p:sp>
      <p:pic>
        <p:nvPicPr>
          <p:cNvPr id="12" name="Picture 11" descr="film_rgcn_architecture_slid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572000"/>
            <a:ext cx="10362895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38BDF8"/>
                </a:solidFill>
                <a:latin typeface="Calibri"/>
              </a:defRPr>
            </a:pPr>
            <a:r>
              <a:t>BREAKTHROUGH RESULTS &amp; REAL-WORLD APPLICATION | IMPACT PITCH</a:t>
            </a:r>
          </a:p>
          <a:p>
            <a:pPr>
              <a:spcBef>
                <a:spcPts val="200"/>
              </a:spcBef>
              <a:defRPr sz="2200" b="1">
                <a:solidFill>
                  <a:srgbClr val="F8FAFC"/>
                </a:solidFill>
                <a:latin typeface="Calibri"/>
              </a:defRPr>
            </a:pPr>
            <a:r>
              <a:t>Unprecedented Accuracy, Mechanistic Explainability &amp; In Silico Design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Calibri"/>
              </a:defRPr>
            </a:pPr>
            <a:r>
              <a:t>How our model sets a new standard for computational metalloenzyme engineering and green synthetic biology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474720" cy="489204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Calibri"/>
              </a:defRPr>
            </a:pPr>
            <a:r>
              <a:t>1. BENCHMARK TRIUMPH</a:t>
            </a:r>
          </a:p>
        </p:txBody>
      </p:sp>
      <p:pic>
        <p:nvPicPr>
          <p:cNvPr id="6" name="Picture 5" descr="rgcn_film_ph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65960"/>
            <a:ext cx="3108960" cy="2377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4434840"/>
            <a:ext cx="310896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</a:pPr>
            <a:r>
              <a:rPr sz="950" b="1">
                <a:solidFill>
                  <a:srgbClr val="10B981"/>
                </a:solidFill>
                <a:latin typeface="Calibri"/>
              </a:rPr>
              <a:t>• Champion Accuracy: </a:t>
            </a:r>
            <a:r>
              <a:rPr sz="900">
                <a:solidFill>
                  <a:srgbClr val="CBD5E1"/>
                </a:solidFill>
                <a:latin typeface="Calibri"/>
              </a:rPr>
              <a:t>MAE = 46.35 mV, R² = 0.929, Pearson r = 0.965 across all 371 proteins.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0B981"/>
                </a:solidFill>
                <a:latin typeface="Calibri"/>
              </a:rPr>
              <a:t>• &gt;70% Error Reduction: </a:t>
            </a:r>
            <a:r>
              <a:rPr sz="900">
                <a:solidFill>
                  <a:srgbClr val="CBD5E1"/>
                </a:solidFill>
                <a:latin typeface="Calibri"/>
              </a:rPr>
              <a:t>Slashes error from author's repo (164.8 mV) down to 46.35 mV.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10B981"/>
                </a:solidFill>
                <a:latin typeface="Calibri"/>
              </a:rPr>
              <a:t>• Full-Range Parity: </a:t>
            </a:r>
            <a:r>
              <a:rPr sz="900">
                <a:solidFill>
                  <a:srgbClr val="CBD5E1"/>
                </a:solidFill>
                <a:latin typeface="Calibri"/>
              </a:rPr>
              <a:t>Consistent fidelity from -700 mV ferredoxins to +500 mV HiPIPs without boundary artifacts.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08760"/>
            <a:ext cx="3566160" cy="489204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64592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Calibri"/>
              </a:defRPr>
            </a:pPr>
            <a:r>
              <a:t>2. MECHANISTIC EXPLAINABILITY (XAI)</a:t>
            </a:r>
          </a:p>
        </p:txBody>
      </p:sp>
      <p:pic>
        <p:nvPicPr>
          <p:cNvPr id="10" name="Picture 9" descr="xai_edge_relation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965960"/>
            <a:ext cx="3200400" cy="21031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0" y="4206240"/>
            <a:ext cx="320040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400"/>
              </a:spcBef>
            </a:pPr>
            <a:r>
              <a:rPr sz="950" b="1">
                <a:solidFill>
                  <a:srgbClr val="F8FAFC"/>
                </a:solidFill>
                <a:latin typeface="Calibri"/>
              </a:rPr>
              <a:t>▸ Rediscovering Real Physics: </a:t>
            </a:r>
            <a:r>
              <a:rPr sz="900">
                <a:solidFill>
                  <a:srgbClr val="CBD5E1"/>
                </a:solidFill>
                <a:latin typeface="Calibri"/>
              </a:rPr>
              <a:t>SHAP analysis proves the model learned true bioinorganic principles rather than dataset noise.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F8FAFC"/>
                </a:solidFill>
                <a:latin typeface="Calibri"/>
              </a:rPr>
              <a:t>▸ H-Bonding Primacy: </a:t>
            </a:r>
            <a:r>
              <a:rPr sz="900">
                <a:solidFill>
                  <a:srgbClr val="CBD5E1"/>
                </a:solidFill>
                <a:latin typeface="Calibri"/>
              </a:rPr>
              <a:t>Backbone N-H···S hydrogen bonds carry the highest positive weight (+60 to +100 mV per bond).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F8FAFC"/>
                </a:solidFill>
                <a:latin typeface="Calibri"/>
              </a:rPr>
              <a:t>▸ Dielectric &amp; SASA Shielding: </a:t>
            </a:r>
            <a:r>
              <a:rPr sz="900">
                <a:solidFill>
                  <a:srgbClr val="CBD5E1"/>
                </a:solidFill>
                <a:latin typeface="Calibri"/>
              </a:rPr>
              <a:t>Solvent exposure promotes solvent reorganization energy, sharply depressing Em.</a:t>
            </a:r>
          </a:p>
          <a:p>
            <a:pPr>
              <a:spcBef>
                <a:spcPts val="400"/>
              </a:spcBef>
            </a:pPr>
            <a:r>
              <a:rPr sz="950" b="1">
                <a:solidFill>
                  <a:srgbClr val="F8FAFC"/>
                </a:solidFill>
                <a:latin typeface="Calibri"/>
              </a:rPr>
              <a:t>▸ pH Nernstian Response: </a:t>
            </a:r>
            <a:r>
              <a:rPr sz="900">
                <a:solidFill>
                  <a:srgbClr val="CBD5E1"/>
                </a:solidFill>
                <a:latin typeface="Calibri"/>
              </a:rPr>
              <a:t>Captures physiological proton-coupled electron transfer (PCET) titration curves.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508760"/>
            <a:ext cx="3322015" cy="489204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645920"/>
            <a:ext cx="29562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Calibri"/>
              </a:defRPr>
            </a:pPr>
            <a:r>
              <a:t>3. WHY IT MATTERS &amp; FUTURE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011680"/>
            <a:ext cx="2956255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700"/>
              </a:spcBef>
            </a:pPr>
            <a:r>
              <a:rPr sz="950" b="1">
                <a:solidFill>
                  <a:srgbClr val="38BDF8"/>
                </a:solidFill>
                <a:latin typeface="Calibri"/>
              </a:rPr>
              <a:t>★ De Novo Protein Design:</a:t>
            </a:r>
            <a:r>
              <a:rPr sz="900">
                <a:solidFill>
                  <a:srgbClr val="CBD5E1"/>
                </a:solidFill>
                <a:latin typeface="Calibri"/>
              </a:rPr>
              <a:t> Screen millions of computationally generated protein backbones (e.g. from RFdiffusion/Chroma) in seconds for optimal redox potentials.</a:t>
            </a:r>
          </a:p>
          <a:p>
            <a:pPr>
              <a:spcBef>
                <a:spcPts val="700"/>
              </a:spcBef>
            </a:pPr>
            <a:r>
              <a:rPr sz="950" b="1">
                <a:solidFill>
                  <a:srgbClr val="38BDF8"/>
                </a:solidFill>
                <a:latin typeface="Calibri"/>
              </a:rPr>
              <a:t>★ Zero Wet-Lab Wastage:</a:t>
            </a:r>
            <a:r>
              <a:rPr sz="900">
                <a:solidFill>
                  <a:srgbClr val="CBD5E1"/>
                </a:solidFill>
                <a:latin typeface="Calibri"/>
              </a:rPr>
              <a:t> Filter out 95% of non-viable synthetic candidates before expensive gene synthesis and expression in the lab.</a:t>
            </a:r>
          </a:p>
          <a:p>
            <a:pPr>
              <a:spcBef>
                <a:spcPts val="700"/>
              </a:spcBef>
            </a:pPr>
            <a:r>
              <a:rPr sz="950" b="1">
                <a:solidFill>
                  <a:srgbClr val="38BDF8"/>
                </a:solidFill>
                <a:latin typeface="Calibri"/>
              </a:rPr>
              <a:t>★ Green Tech &amp; Bio-Hydrogen:</a:t>
            </a:r>
            <a:r>
              <a:rPr sz="900">
                <a:solidFill>
                  <a:srgbClr val="CBD5E1"/>
                </a:solidFill>
                <a:latin typeface="Calibri"/>
              </a:rPr>
              <a:t> Optimize [FeFe]- and [NiFe]-hydrogenases to match renewable photovoltaic electrode potentials for ultra-efficient carbon-neutral H2 production.</a:t>
            </a:r>
          </a:p>
          <a:p>
            <a:pPr>
              <a:spcBef>
                <a:spcPts val="700"/>
              </a:spcBef>
            </a:pPr>
            <a:r>
              <a:rPr sz="950" b="1">
                <a:solidFill>
                  <a:srgbClr val="38BDF8"/>
                </a:solidFill>
                <a:latin typeface="Calibri"/>
              </a:rPr>
              <a:t>★ Metabolic Circuit Optimization:</a:t>
            </a:r>
            <a:r>
              <a:rPr sz="900">
                <a:solidFill>
                  <a:srgbClr val="CBD5E1"/>
                </a:solidFill>
                <a:latin typeface="Calibri"/>
              </a:rPr>
              <a:t> Tune electron transfer bottlenecks in engineered synthetic microbes for bio-manufacturing of pharmaceuticals and fuels.</a:t>
            </a:r>
          </a:p>
          <a:p>
            <a:pPr>
              <a:spcBef>
                <a:spcPts val="700"/>
              </a:spcBef>
            </a:pPr>
            <a:r>
              <a:rPr sz="950" b="1">
                <a:solidFill>
                  <a:srgbClr val="38BDF8"/>
                </a:solidFill>
                <a:latin typeface="Calibri"/>
              </a:rPr>
              <a:t>★ Instant Inference (&lt;15 ms):</a:t>
            </a:r>
            <a:r>
              <a:rPr sz="900">
                <a:solidFill>
                  <a:srgbClr val="CBD5E1"/>
                </a:solidFill>
                <a:latin typeface="Calibri"/>
              </a:rPr>
              <a:t> 10,000x faster than DFT; enables interactive point mutation screening on a standard laptop.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